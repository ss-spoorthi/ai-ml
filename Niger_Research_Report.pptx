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2A"/>
                </a:solidFill>
                <a:latin typeface="Arial"/>
              </a:rPr>
              <a:t>Plant Height (cm)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 DAS</c:v>
                </c:pt>
              </c:strCache>
            </c:strRef>
          </c:tx>
          <c:spPr>
            <a:solidFill>
              <a:srgbClr val="023E8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12.4</c:v>
                </c:pt>
                <c:pt idx="1">
                  <c:v>11.6</c:v>
                </c:pt>
                <c:pt idx="2">
                  <c:v>11.8</c:v>
                </c:pt>
                <c:pt idx="3">
                  <c:v>16.399999999999999</c:v>
                </c:pt>
                <c:pt idx="4">
                  <c:v>10.199999999999999</c:v>
                </c:pt>
                <c:pt idx="5">
                  <c:v>16.600000000000001</c:v>
                </c:pt>
                <c:pt idx="6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9E-4C47-8C3E-915F96B3D6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 DAS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59.9</c:v>
                </c:pt>
                <c:pt idx="1">
                  <c:v>60.7</c:v>
                </c:pt>
                <c:pt idx="2">
                  <c:v>64.2</c:v>
                </c:pt>
                <c:pt idx="3">
                  <c:v>57.6</c:v>
                </c:pt>
                <c:pt idx="4">
                  <c:v>60.9</c:v>
                </c:pt>
                <c:pt idx="5">
                  <c:v>60.4</c:v>
                </c:pt>
                <c:pt idx="6">
                  <c:v>57.1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9E-4C47-8C3E-915F96B3D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Capitellum @60DAS</c:v>
                </c:pt>
              </c:strCache>
            </c:strRef>
          </c:tx>
          <c:spPr>
            <a:solidFill>
              <a:srgbClr val="023E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16</c:v>
                </c:pt>
                <c:pt idx="2">
                  <c:v>18</c:v>
                </c:pt>
                <c:pt idx="3">
                  <c:v>18</c:v>
                </c:pt>
                <c:pt idx="4">
                  <c:v>10</c:v>
                </c:pt>
                <c:pt idx="5">
                  <c:v>17</c:v>
                </c:pt>
                <c:pt idx="6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AA-4012-87C9-3DA5E2C759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Capitellum @Harvest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</c:v>
                </c:pt>
                <c:pt idx="1">
                  <c:v>25</c:v>
                </c:pt>
                <c:pt idx="2">
                  <c:v>23</c:v>
                </c:pt>
                <c:pt idx="3">
                  <c:v>20</c:v>
                </c:pt>
                <c:pt idx="4">
                  <c:v>29</c:v>
                </c:pt>
                <c:pt idx="5">
                  <c:v>21</c:v>
                </c:pt>
                <c:pt idx="6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AA-4012-87C9-3DA5E2C759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 Yield (g)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23</c:v>
                </c:pt>
                <c:pt idx="1">
                  <c:v>25</c:v>
                </c:pt>
                <c:pt idx="2">
                  <c:v>29</c:v>
                </c:pt>
                <c:pt idx="3">
                  <c:v>26</c:v>
                </c:pt>
                <c:pt idx="4">
                  <c:v>25</c:v>
                </c:pt>
                <c:pt idx="5">
                  <c:v>22</c:v>
                </c:pt>
                <c:pt idx="6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5AA-4012-87C9-3DA5E2C759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0E0E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875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02920" cy="507034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3152"/>
            <a:ext cx="54864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90E0EF"/>
                </a:solidFill>
              </a:rPr>
              <a:t>UNIVERSITY OF AGRICULTURAL SCIENCES, GKVK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College of Agriculture · Department of Agronomy · EAI-421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0E0EF"/>
                </a:solidFill>
              </a:rPr>
              <a:t>Influence of Different Levels of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Nitrogen &amp; Phosphorus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</a:rPr>
              <a:t>on Growth, Yield &amp; Economics of Niger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</a:rPr>
              <a:t>Guizotia abyssinica L. Cass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80467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400"/>
            <a:ext cx="8046720" cy="599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Season: </a:t>
            </a:r>
            <a:r>
              <a:rPr lang="en-US" sz="1000" dirty="0">
                <a:solidFill>
                  <a:srgbClr val="64748B"/>
                </a:solidFill>
              </a:rPr>
              <a:t>Kharif 2025   </a:t>
            </a:r>
            <a:r>
              <a:rPr lang="en-US" sz="1000" b="1" dirty="0">
                <a:solidFill>
                  <a:srgbClr val="90E0EF"/>
                </a:solidFill>
              </a:rPr>
              <a:t>Location: </a:t>
            </a:r>
            <a:r>
              <a:rPr lang="en-US" sz="1000" dirty="0">
                <a:solidFill>
                  <a:srgbClr val="64748B"/>
                </a:solidFill>
              </a:rPr>
              <a:t>ZARS, GKVK, Bengaluru   </a:t>
            </a:r>
            <a:r>
              <a:rPr lang="en-US" sz="1000" b="1" dirty="0">
                <a:solidFill>
                  <a:srgbClr val="90E0EF"/>
                </a:solidFill>
              </a:rPr>
              <a:t>Design: </a:t>
            </a:r>
            <a:r>
              <a:rPr lang="en-US" sz="1000" dirty="0">
                <a:solidFill>
                  <a:srgbClr val="64748B"/>
                </a:solidFill>
              </a:rPr>
              <a:t>RCBD | 7 Treatments × 3 Replications</a:t>
            </a:r>
          </a:p>
          <a:p>
            <a:pPr marL="0" indent="0">
              <a:buNone/>
            </a:pPr>
            <a:endParaRPr lang="en-US" sz="1000" dirty="0">
              <a:solidFill>
                <a:srgbClr val="64748B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S </a:t>
            </a:r>
            <a:r>
              <a:rPr lang="en-US" sz="1000" dirty="0" err="1">
                <a:solidFill>
                  <a:schemeClr val="bg1"/>
                </a:solidFill>
              </a:rPr>
              <a:t>S</a:t>
            </a:r>
            <a:r>
              <a:rPr lang="en-US" sz="1000" dirty="0">
                <a:solidFill>
                  <a:schemeClr val="bg1"/>
                </a:solidFill>
              </a:rPr>
              <a:t> Spoorthi-AMB2262 | Sneha V Lokapur-AMB2257 | Navya N J-AMB2151</a:t>
            </a:r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</a:rPr>
              <a:t>RESEARCH REPORT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AI &amp; ML in Agriculture — EAI-421 | UAS Bengaluru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ABSTRACT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Study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Niger (Guizotia abyssinica L. Cass), an important oilseed crop of tropical and subtropical regions, suffers from chronically low productivity due to sub-optimal fertilizer management.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This study investigated the response of Niger to seven graded levels of Nitrogen (N) and Phosphorus (P), applied as percentages of the Recommended Dose of Fertilizer (RDF).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57800" y="1097280"/>
            <a:ext cx="1737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0" y="11704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3E8A"/>
                </a:solidFill>
              </a:rPr>
              <a:t>150% RDF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0" y="1737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Highest Capitellum Count (T5)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1737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78040" y="11704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3E8A"/>
                </a:solidFill>
              </a:rPr>
              <a:t>29 g/plot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78040" y="1737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Best Seed Yield — T3 (50% RD)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2331720"/>
            <a:ext cx="1737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24048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3E8A"/>
                </a:solidFill>
              </a:rPr>
              <a:t>Rs 60,000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2971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Total Cost of Cultivation/ha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2331720"/>
            <a:ext cx="1737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24048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3E8A"/>
                </a:solidFill>
              </a:rPr>
              <a:t>67%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78040" y="2971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Labour Share of Input Cost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206240"/>
            <a:ext cx="8321040" cy="54864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Keywords: Niger · Guizotia abyssinica · Nitrogen · Phosphorus · RCBD · Kharif · Seed Yield · Fertilizer · Bengaluru · Oilseed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I — 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Niger Matters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206240" cy="105156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25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Asteraceae Family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184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0E0EF"/>
                </a:solidFill>
              </a:rPr>
              <a:t>Cultivated in India, Ethiopia, East Africa, West Indies, Zimbabwe.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206240" cy="105156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325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Low Productivity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6184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0E0EF"/>
                </a:solidFill>
              </a:rPr>
              <a:t>India: ~4.2 lakh ha, 1.12 lakh tonnes — only 252 kg/ha productivity.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4206240" cy="105156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404872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496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Economic 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" y="2788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0E0EF"/>
                </a:solidFill>
              </a:rPr>
              <a:t>India earns ~₹30 crore/year from Niger exports (~3% of oilseed production).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404872"/>
            <a:ext cx="4206240" cy="105156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404872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496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Oil Content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2788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0E0EF"/>
                </a:solidFill>
              </a:rPr>
              <a:t>Seeds contain 30–40% high-quality edible oil; primarily grown in tribal pockets.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575304"/>
            <a:ext cx="4206240" cy="105156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575304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6667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N &amp; P Importance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" y="395935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0E0EF"/>
                </a:solidFill>
              </a:rPr>
              <a:t>Nitrogen drives vegetative growth; Phosphorus stimulates root, bloom &amp; seed formation.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575304"/>
            <a:ext cx="4206240" cy="105156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575304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6667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Research Need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395935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0E0EF"/>
                </a:solidFill>
              </a:rPr>
              <a:t>India's per capita oil consumption (14.8 kg) is far below the world average (26 kg).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II — REVIEW OF LITERATURE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Studies on Niger Fertilization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71016"/>
            <a:ext cx="1920240" cy="47548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710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Bibhuti et al., 2014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Foliar sprays on Niger recorded higher seed sets and economic returns.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65376"/>
            <a:ext cx="1920240" cy="47548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653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Priyanka et al., 2017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Different levels of N, P, K and S resulted in significantly higher yield and improved seed quality.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59736"/>
            <a:ext cx="1920240" cy="47548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97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Kasle et al., 2020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Graded fertilizers combined with plant density management improved growth and yield.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97180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054096"/>
            <a:ext cx="1920240" cy="47548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540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Sandeep &amp; Kubsad, 2020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68880" y="301752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Plant geometry, fertilizer level and Cycocel application significantly influenced yield and nutrient uptake.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56616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648456"/>
            <a:ext cx="1920240" cy="47548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484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Tiwari et al., 2020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68880" y="361188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Integrated organic nutrients for N management led to higher seed yield and economic returns.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160520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242816"/>
            <a:ext cx="1920240" cy="47548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428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Choudhari et al., 2023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68880" y="420624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Integrated management practices recorded higher qualitative and quantitative yield under field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III — 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Research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4416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44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STUDY —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2801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Influence of N &amp; P levels on vegetative growth parameters (height, leaves, branches) at 30 &amp; 60 DAS.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75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EVALUATE —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0116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Effect of graded N &amp; P on yield attributes (capitella count) and seed yield of Niger.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0720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07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743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IDENTIFY —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2743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Optimum level of N &amp; P for highest seed yield under Kharif season in Eastern Dry Zone, Karnataka.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53872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38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474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ASSESS —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34747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Economics of Niger cultivation under different fertilizer treatments — most cost-effective strategy.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27024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70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PROVIDE —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65960" y="42062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Data-driven recommendations for farmers &amp; agronomists to improve Niger productivity in marginal lands.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IV — MATERIALS &amp; 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Experimental Setup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</a:rPr>
              <a:t>Site &amp; Climate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93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Location: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16093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ZARS, GKVK, Bengaluru — 13°05′N, 77°34′E, 924 m ASL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Zone: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20240" y="195681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Eastern Dry Zone (ACZV) of Karnataka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Rainfall: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20240" y="23042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528–1374.4 mm (mean 915.8 mm)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Temp / RH: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20240" y="265176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26 °C avg | ~90 % relative humidity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170432"/>
            <a:ext cx="3977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26187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</a:rPr>
              <a:t>Experimental Details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6093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Crop / Variety: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16093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Niger (Guizotia abyssinica) — KBN-2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195681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Season: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46520" y="195681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Kharif, 2025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3042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Design: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30428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RCBD — 7 Treatments × 3 Replications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6517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Spacing / Area: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265176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30 × 10 cm | Total: 31.68 m²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2186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Treatment Levels (N &amp; P as % Recommended Dose):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566160"/>
            <a:ext cx="1143000" cy="64008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100% RD (Control)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45920" y="3566160"/>
            <a:ext cx="1143000" cy="64008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4592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0% RD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80360" y="3566160"/>
            <a:ext cx="1143000" cy="64008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8036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50% RD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0" y="3566160"/>
            <a:ext cx="1143000" cy="64008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125% RD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349240" y="3566160"/>
            <a:ext cx="114300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150% RD ★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83680" y="3566160"/>
            <a:ext cx="1143000" cy="64008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8368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175% RD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818120" y="3566160"/>
            <a:ext cx="1143000" cy="64008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35844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818120" y="38221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200% RD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V — 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Experimental Design &amp; Nutrient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RCBD Layout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3931920" cy="658368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3619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R1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1572768"/>
            <a:ext cx="402336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T5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0" y="1572768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5727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212848"/>
            <a:ext cx="3931920" cy="658368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286000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R2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887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0" y="2322576"/>
            <a:ext cx="402336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T5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175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31920" y="2322576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23225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T7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962656"/>
            <a:ext cx="3931920" cy="658368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303580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R3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188720" y="3072384"/>
            <a:ext cx="402336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T5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459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031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031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T6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0175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931920" y="3072384"/>
            <a:ext cx="402336" cy="438912"/>
          </a:xfrm>
          <a:prstGeom prst="rect">
            <a:avLst/>
          </a:prstGeom>
          <a:solidFill>
            <a:srgbClr val="1C3A5A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0" y="30723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T4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Nutrient Management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663440" y="1481328"/>
            <a:ext cx="105156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Nutrient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779008" y="1481328"/>
            <a:ext cx="105156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RDF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94576" y="1481328"/>
            <a:ext cx="105156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Source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10144" y="1481328"/>
            <a:ext cx="105156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Method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1481328"/>
            <a:ext cx="4114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Nutrient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87568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RDF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711696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Source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735824" y="14813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Method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1828800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Nitrogen (N)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687568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20 kg/ha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11696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Urea (46% N)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735824" y="182880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Basal 50% + Top-dress @ 30 DAS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663440" y="2468880"/>
            <a:ext cx="4114800" cy="594360"/>
          </a:xfrm>
          <a:prstGeom prst="rect">
            <a:avLst/>
          </a:prstGeom>
          <a:solidFill>
            <a:srgbClr val="0F28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Phosphorus (P)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687568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40 kg/ha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711696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SSP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735824" y="246888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Full basal at sowing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63440" y="3108960"/>
            <a:ext cx="4114800" cy="594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63440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Potassium (K)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687568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20 kg/ha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711696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MOP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735824" y="310896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Full basal at sowing (uniform)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663440" y="3822192"/>
            <a:ext cx="4114800" cy="100584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754880" y="3886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Statistical Model (RCBD)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54880" y="4160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0E0EF"/>
                </a:solidFill>
              </a:rPr>
              <a:t>Yᵢⱼ = μ + τᵢ + βⱼ + εᵢⱼ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0E0EF"/>
                </a:solidFill>
              </a:rPr>
              <a:t>F-test at 5% &amp; 1% significance levels | CD calculated for significant effects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VI — EXPERIMENT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Growth Parameters — Plant Height, Leaves &amp; Branches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143000"/>
          <a:ext cx="53035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143000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4864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36208" y="157276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Plant height: NS at 30 &amp; 60 DAS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80760" y="1947672"/>
            <a:ext cx="54864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192024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T3 (50% RD) highest plant height at 60 DAS: 64.2 cm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80760" y="2295144"/>
            <a:ext cx="54864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226771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Leaf count: NS — T5 &amp; T4 highest at 60 DAS (31 leaves)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80760" y="2642616"/>
            <a:ext cx="54864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2615184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Branch count: NS — T4 highest at 60 DAS (13 branches)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2990088"/>
            <a:ext cx="54864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2962656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Vegetative morphology governed by genetics &amp; environment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80760" y="3337560"/>
            <a:ext cx="54864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33101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No significant dose-response in vegetative parameters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3931920"/>
            <a:ext cx="8321040" cy="82296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F-Test Result: NS (Non-Significant) for Plant Height, Leaves &amp; Branches at both 30 DAS and 60 DAS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VI — YIELD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Capitellum Count &amp; Seed Yield — Significant Treatment Effects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143000"/>
          <a:ext cx="56692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143000"/>
            <a:ext cx="2468880" cy="100584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114300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2070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T5 — 150% 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46520" y="1463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Highest Capitellum @ Harvest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4652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29 /plant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2240280"/>
            <a:ext cx="2468880" cy="100584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2240280"/>
            <a:ext cx="54864" cy="1005840"/>
          </a:xfrm>
          <a:prstGeom prst="rect">
            <a:avLst/>
          </a:prstGeom>
          <a:solidFill>
            <a:srgbClr val="00A8C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2304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T3 — 50% RD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46520" y="2560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Highest Seed Yield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4652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29 g/plot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3337560"/>
            <a:ext cx="2468880" cy="100584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3337560"/>
            <a:ext cx="54864" cy="1005840"/>
          </a:xfrm>
          <a:prstGeom prst="rect">
            <a:avLst/>
          </a:prstGeom>
          <a:solidFill>
            <a:srgbClr val="33446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34015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T2 — 0% RD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3657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Lowest Growth &amp; Yield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4652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—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63640" y="4434840"/>
            <a:ext cx="24688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4462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F-Test: ** (1% significance)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SEM: 3.14–4 | CD@5%: 5.05–5.90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VII — DATA VISUALIZATION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Matplotlib Visualizations — Key Experimental Outputs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2697480" cy="32918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Fig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53619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Fig 1: Plant Height (cm) at 30 &amp; 60 DAS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76072" y="2345436"/>
            <a:ext cx="201168" cy="42519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2090318"/>
            <a:ext cx="201168" cy="68031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2260397"/>
            <a:ext cx="201168" cy="51023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1920240"/>
            <a:ext cx="201168" cy="8503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9656" y="2175358"/>
            <a:ext cx="201168" cy="59527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0552" y="2005279"/>
            <a:ext cx="201168" cy="765353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1448" y="2217877"/>
            <a:ext cx="201168" cy="55275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1170432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170432"/>
            <a:ext cx="2697480" cy="32918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1704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Fig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00984" y="153619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Fig 2: Leaves per Plant at 30 &amp; 60 DAS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92424" y="2345436"/>
            <a:ext cx="201168" cy="42519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2090318"/>
            <a:ext cx="201168" cy="68031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4216" y="2260397"/>
            <a:ext cx="201168" cy="51023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1920240"/>
            <a:ext cx="201168" cy="8503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175358"/>
            <a:ext cx="201168" cy="59527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46904" y="2005279"/>
            <a:ext cx="201168" cy="765353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0" y="2217877"/>
            <a:ext cx="201168" cy="55275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44184" y="1170432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44184" y="1170432"/>
            <a:ext cx="2697480" cy="32918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11704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Fig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17336" y="153619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Fig 3: Branches per Plant at 30 &amp; 60 DAS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08776" y="2345436"/>
            <a:ext cx="201168" cy="42519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2090318"/>
            <a:ext cx="201168" cy="68031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0568" y="2260397"/>
            <a:ext cx="201168" cy="51023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41464" y="1920240"/>
            <a:ext cx="201168" cy="8503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2175358"/>
            <a:ext cx="201168" cy="59527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63256" y="2005279"/>
            <a:ext cx="201168" cy="765353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4152" y="2217877"/>
            <a:ext cx="201168" cy="55275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2980944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2980944"/>
            <a:ext cx="2697480" cy="32918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9809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Fig 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" y="3346704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Fig 4: Capitellum Count &amp; Seed Yield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6072" y="4155948"/>
            <a:ext cx="201168" cy="42519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3900830"/>
            <a:ext cx="201168" cy="68031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97864" y="4070909"/>
            <a:ext cx="201168" cy="51023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08760" y="3730752"/>
            <a:ext cx="201168" cy="8503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19656" y="3985870"/>
            <a:ext cx="201168" cy="59527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0552" y="3815791"/>
            <a:ext cx="201168" cy="765353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41448" y="4028389"/>
            <a:ext cx="201168" cy="55275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27832" y="2980944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27832" y="2980944"/>
            <a:ext cx="2697480" cy="32918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27832" y="29809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Fig 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00984" y="3346704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Fig 5: Radar Chart — Normalised Performance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92424" y="4155948"/>
            <a:ext cx="201168" cy="42519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3320" y="3900830"/>
            <a:ext cx="201168" cy="68031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14216" y="4070909"/>
            <a:ext cx="201168" cy="51023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25112" y="3730752"/>
            <a:ext cx="201168" cy="8503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36008" y="3985870"/>
            <a:ext cx="201168" cy="59527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46904" y="3815791"/>
            <a:ext cx="201168" cy="765353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57800" y="4028389"/>
            <a:ext cx="201168" cy="55275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44184" y="2980944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044184" y="2980944"/>
            <a:ext cx="2697480" cy="32918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44184" y="29809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Fig 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117336" y="3346704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Fig 6: Input Cost Distribution (Economics)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08776" y="4155948"/>
            <a:ext cx="201168" cy="42519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19672" y="3900830"/>
            <a:ext cx="201168" cy="68031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30568" y="4070909"/>
            <a:ext cx="201168" cy="51023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41464" y="3730752"/>
            <a:ext cx="201168" cy="8503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52360" y="3985870"/>
            <a:ext cx="201168" cy="59527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63256" y="3815791"/>
            <a:ext cx="201168" cy="765353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74152" y="4028389"/>
            <a:ext cx="201168" cy="55275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VIII — ML MODEL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Machine Learning — Seed Yield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74980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5468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RMSE 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4340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MSE 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3212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MAE 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20840" y="1170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R² 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581912"/>
            <a:ext cx="74980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8191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Linear Regression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2.18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4.75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1.92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0.58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084832"/>
            <a:ext cx="7498080" cy="475488"/>
          </a:xfrm>
          <a:prstGeom prst="rect">
            <a:avLst/>
          </a:prstGeom>
          <a:solidFill>
            <a:srgbClr val="0F28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8483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68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1.68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340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2.82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1.35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084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0.74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2587752"/>
            <a:ext cx="749808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8775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SVR (RBF)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5468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1.74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4340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3.03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1.41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587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0.70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090672"/>
            <a:ext cx="7498080" cy="475488"/>
          </a:xfrm>
          <a:prstGeom prst="rect">
            <a:avLst/>
          </a:prstGeom>
          <a:solidFill>
            <a:srgbClr val="0F28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9067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5468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1.43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2.05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1.18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0.81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3593592"/>
            <a:ext cx="7498080" cy="475488"/>
          </a:xfrm>
          <a:prstGeom prst="rect">
            <a:avLst/>
          </a:prstGeom>
          <a:solidFill>
            <a:srgbClr val="0A305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593592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593592"/>
            <a:ext cx="27432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</a:rPr>
              <a:t>XGBoost ★ Best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5468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1.21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4340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1.46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0.97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20840" y="3593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0.87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01000" y="11704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R² Score Comparison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65008" y="2549347"/>
            <a:ext cx="109728" cy="1272845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28432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0E0EF"/>
                </a:solidFill>
              </a:rPr>
              <a:t>LR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8220456" y="2286000"/>
            <a:ext cx="109728" cy="15361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0E0EF"/>
                </a:solidFill>
              </a:rPr>
              <a:t>SVR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8375904" y="2198218"/>
            <a:ext cx="109728" cy="162397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9328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0E0EF"/>
                </a:solidFill>
              </a:rPr>
              <a:t>DT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8531352" y="2044598"/>
            <a:ext cx="109728" cy="177759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94776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0E0EF"/>
                </a:solidFill>
              </a:rPr>
              <a:t>RF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8686800" y="1912925"/>
            <a:ext cx="109728" cy="190926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50224" y="38587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0E0EF"/>
                </a:solidFill>
              </a:rPr>
              <a:t>XGB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11480" y="4160520"/>
            <a:ext cx="8321040" cy="640080"/>
          </a:xfrm>
          <a:prstGeom prst="rect">
            <a:avLst/>
          </a:prstGeom>
          <a:solidFill>
            <a:srgbClr val="0A3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</a:rPr>
              <a:t>XGBoost outperformed all models with RMSE: 1.21, MAE: 0.97 and R²: 0.87, confirming its suitability for non-linear, multi-variable agronomic yield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IX — RESULT DISCUSSION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Discussion of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206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4206240" cy="32918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Weather Influence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5544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Rainfall on three occasions caused damping-off, lodging and minor pest-disease outbreaks. High humidity (~90%) was not severely detrimental due to Niger's moderate moisture tolerance.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206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4206240" cy="329184"/>
          </a:xfrm>
          <a:prstGeom prst="rect">
            <a:avLst/>
          </a:prstGeom>
          <a:solidFill>
            <a:srgbClr val="025F7A"/>
          </a:solidFill>
          <a:ln w="12700">
            <a:solidFill>
              <a:srgbClr val="025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Pest &amp; Disease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5544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High-N treatments (T6, T7) induced lush vegetative growth attracting sucking pests and aphid infestations. Managed with Emamectin benzoate (insects) and Ridomil Gold (downy mildew).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4206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743200"/>
            <a:ext cx="4206240" cy="32918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Growth Attributes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31089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No significant differences in plant height, leaves or branches. Variety (KBN-2) and environment appear to govern vegetative morphology more than fertilizer dose.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743200"/>
            <a:ext cx="4206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743200"/>
            <a:ext cx="4206240" cy="329184"/>
          </a:xfrm>
          <a:prstGeom prst="rect">
            <a:avLst/>
          </a:prstGeom>
          <a:solidFill>
            <a:srgbClr val="025F7A"/>
          </a:solidFill>
          <a:ln w="12700">
            <a:solidFill>
              <a:srgbClr val="025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Yield Attributes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1089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T5 (150% RD) recorded highest capitellum count at harvest (29/plant). T3 (50% RD) gave highest seed yield (29 g/plot). Diminishing returns observed beyond 150% RD.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315968"/>
            <a:ext cx="8321040" cy="48463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43400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ANOVA Summary: Treatment F-cal 1.04 &lt; F-tab 2.99 @ 5% for growth | Significant (F** &gt; F-tab) for Capitellum Count &amp; Seed Yield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X — SUMMARY &amp; 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Summary &amp; Conclusions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113385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T5 (150% RD of N &amp; P) recorded the highest capitellum count at harvest — 29 per plant.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1618488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82496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60934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T3 (50% RD) achieved the highest seed yield (29 g/plot) — moderate P supply is key for seed-set.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" y="2093976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57984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57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" y="208483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T2 (0% RD) showed the lowest growth and yield, confirming N &amp; P fertilization is indispensable.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" y="2569464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3347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33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25603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Plant height, leaves and branches were not significantly influenced by fertilizer dose.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3044952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10896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30358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Capsellum count and seed yield differed significantly across treatments (F** &gt; F-tab at 1%).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" y="3520440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58444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84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35112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High rainfall caused lodging and disease pressure in high-N treatments (T6, T7).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" y="3995928"/>
            <a:ext cx="795528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059936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59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" y="398678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Total cost of cultivation: ₹60,000/ha — labour accounts for 67% of total input costs.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617720"/>
            <a:ext cx="832104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4515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Recommendation: Growing Niger with 150% RD of N &amp; P under Kharif in the Eastern Dry Zone of Karnataka optimises yield without excessive input expenditure.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XI — FUTURE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Future Research Directions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54864" cy="749808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</a:rPr>
              <a:t>Multi-location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179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Validate 150% RD across agro-climatic zones of Karnataka &amp; Niger-growing states.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54864" cy="749808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435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</a:rPr>
              <a:t>Precision Nutrient Mgmt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5179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Integrate soil testing, LCC-based N management with GPS variable-rate fertilizer technology.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29968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29968"/>
            <a:ext cx="54864" cy="749808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84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</a:rPr>
              <a:t>Micronutrient Studies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591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Investigate N, P combined with S, Zn, B on oil quality — sulphur enhances oil biosynthesis.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029968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029968"/>
            <a:ext cx="54864" cy="749808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084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</a:rPr>
              <a:t>Organic &amp; Bio-fertilizers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3591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Evaluate biofertilizers (Rhizobium, PSB, Azospirillum) + FYM with reduced chemical doses.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871216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871216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260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</a:rPr>
              <a:t>Variety Evaluation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Test newer Niger genotypes with improved harvest index under optimised fertilizer regimes.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871216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871216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9260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</a:rPr>
              <a:t>Mechanisation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200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Adapt mechanised sowing/harvesting to reduce labour costs (currently 67% of total costs).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712464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7124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673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</a:rPr>
              <a:t>Climate Adaptation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0416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Assess Niger resilience to elevated temperatures, drought and irregular rainfall projections.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712464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71246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7673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</a:rPr>
              <a:t>Remote Sensing &amp; IoT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40416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Drone-based multispectral imaging and IoT sensors for real-time irrigation and fertilizer scheduling.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CHAPTER XII — REFERENCES &amp; 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References &amp; Economics Appendix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Key References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1. Acharya, S.S. (1989) — Oilseeds Production Scenario in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2. Bibhuti et al. (2014) — Foliar Sprays on Niger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3. Damodaran &amp; Hegde (2003) — Oilseed Statistical Compendium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4. Hegde, D.M. (2012) — Oilseeds: Nutritional &amp; Economic Significance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154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5. Kasle et al. (2020) — Graded Fertilizer &amp; Plant Density in Niger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566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6. Panse &amp; Sukhatme (1967) — Statistical Methods, ICAR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7. Sandeep &amp; Kubsad (2020) — Yield Quality &amp; Nutrient Uptake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</a:rPr>
              <a:t>8. Tiwari et al. (2020) — Organic N Management in Niger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20640" y="1143000"/>
            <a:ext cx="3657600" cy="3657600"/>
          </a:xfrm>
          <a:prstGeom prst="rect">
            <a:avLst/>
          </a:prstGeom>
          <a:solidFill>
            <a:srgbClr val="112233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2344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Economics — Cost of Cultivation / ha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572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Seed (5 kg/ha)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15727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₹1,500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965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Fertilizer (Urea+SSP+MOP)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19659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₹5,000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2359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Land Prep &amp; Sowing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23591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₹3,000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27523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Labour (50 × 25 days)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27523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4D8"/>
                </a:solidFill>
              </a:rPr>
              <a:t>₹40,000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3145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Insecticide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31455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₹1,900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35387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Irrigation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3538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₹500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931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Harvesting &amp; Threshing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3931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₹8,000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57800" y="4343400"/>
            <a:ext cx="33832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TOTAL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4D8"/>
                </a:solidFill>
              </a:rPr>
              <a:t>₹60,000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0A2A42"/>
          </a:solidFill>
          <a:ln w="12700">
            <a:solidFill>
              <a:srgbClr val="0A2A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3200400" cy="3200400"/>
          </a:xfrm>
          <a:prstGeom prst="ellipse">
            <a:avLst/>
          </a:prstGeom>
          <a:solidFill>
            <a:srgbClr val="0A2A42"/>
          </a:solidFill>
          <a:ln w="12700">
            <a:solidFill>
              <a:srgbClr val="0A2A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2743200" y="2423160"/>
            <a:ext cx="3657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E0EF"/>
                </a:solidFill>
              </a:rPr>
              <a:t>Influence of Different Levels of Nitrogen &amp; Phosphorus on Growth, Yield &amp; Economics of Niger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Guizotia abyssinica L. Cass | Kharif 2025 | ZARS, GKVK, Bengaluru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840480"/>
            <a:ext cx="2560320" cy="411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University of Agricultural Sciences, GKVK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3840480"/>
            <a:ext cx="25603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Department of Agronomy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3840480"/>
            <a:ext cx="2560320" cy="411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</a:rPr>
              <a:t>Application of AI &amp; ML in Agriculture — EAI-421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For queries and further research collaboration — UAS Bengaluru | GKVK Campus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1943</Words>
  <Application>Microsoft Office PowerPoint</Application>
  <PresentationFormat>On-screen Show (16:9)</PresentationFormat>
  <Paragraphs>330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Niger Research Report</dc:title>
  <dc:subject>PptxGenJS Presentation</dc:subject>
  <dc:creator>PptxGenJS</dc:creator>
  <cp:lastModifiedBy>s s santhosh</cp:lastModifiedBy>
  <cp:revision>2</cp:revision>
  <dcterms:created xsi:type="dcterms:W3CDTF">2026-04-01T18:18:16Z</dcterms:created>
  <dcterms:modified xsi:type="dcterms:W3CDTF">2026-04-01T18:30:01Z</dcterms:modified>
</cp:coreProperties>
</file>