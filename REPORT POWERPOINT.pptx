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4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2C1A0E"/>
                </a:solidFill>
                <a:latin typeface="Arial"/>
              </a:rPr>
              <a:t>Plant Height (cm)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DAS</c:v>
                </c:pt>
              </c:strCache>
            </c:strRef>
          </c:tx>
          <c:spPr>
            <a:solidFill>
              <a:srgbClr val="7B4F2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11.6</c:v>
                </c:pt>
                <c:pt idx="2">
                  <c:v>11.8</c:v>
                </c:pt>
                <c:pt idx="3">
                  <c:v>16.399999999999999</c:v>
                </c:pt>
                <c:pt idx="4">
                  <c:v>10.199999999999999</c:v>
                </c:pt>
                <c:pt idx="5">
                  <c:v>16.600000000000001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50-41AE-8F54-0076D47C62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</c:v>
                </c:pt>
              </c:strCache>
            </c:strRef>
          </c:tx>
          <c:spPr>
            <a:solidFill>
              <a:srgbClr val="C27D3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59.9</c:v>
                </c:pt>
                <c:pt idx="1">
                  <c:v>60.7</c:v>
                </c:pt>
                <c:pt idx="2">
                  <c:v>64.2</c:v>
                </c:pt>
                <c:pt idx="3">
                  <c:v>57.6</c:v>
                </c:pt>
                <c:pt idx="4">
                  <c:v>60.9</c:v>
                </c:pt>
                <c:pt idx="5">
                  <c:v>60.4</c:v>
                </c:pt>
                <c:pt idx="6">
                  <c:v>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0-41AE-8F54-0076D47C62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Capitellum @60DAS</c:v>
                </c:pt>
              </c:strCache>
            </c:strRef>
          </c:tx>
          <c:spPr>
            <a:solidFill>
              <a:srgbClr val="023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10</c:v>
                </c:pt>
                <c:pt idx="5">
                  <c:v>17</c:v>
                </c:pt>
                <c:pt idx="6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6E-4ADD-BC09-2239D63CF9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Capitellum @Harvest</c:v>
                </c:pt>
              </c:strCache>
            </c:strRef>
          </c:tx>
          <c:spPr>
            <a:solidFill>
              <a:srgbClr val="C27D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</c:v>
                </c:pt>
                <c:pt idx="1">
                  <c:v>25</c:v>
                </c:pt>
                <c:pt idx="2">
                  <c:v>23</c:v>
                </c:pt>
                <c:pt idx="3">
                  <c:v>20</c:v>
                </c:pt>
                <c:pt idx="4">
                  <c:v>29</c:v>
                </c:pt>
                <c:pt idx="5">
                  <c:v>21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6E-4ADD-BC09-2239D63CF9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Yield (g)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</c:v>
                </c:pt>
                <c:pt idx="1">
                  <c:v>25</c:v>
                </c:pt>
                <c:pt idx="2">
                  <c:v>29</c:v>
                </c:pt>
                <c:pt idx="3">
                  <c:v>26</c:v>
                </c:pt>
                <c:pt idx="4">
                  <c:v>25</c:v>
                </c:pt>
                <c:pt idx="5">
                  <c:v>22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6E-4ADD-BC09-2239D63CF9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B8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B8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B8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8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3188-0476-EC55-C7FB-161EC26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06DD-F06A-4DEB-BAF9-D004C5F671F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0714A-FEC9-22D9-22A0-CEF8A14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2963-77B7-6B47-97D6-67BC656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EF4B1-28E1-4B50-A850-AB095ED2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5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624078" y="557581"/>
            <a:ext cx="8058150" cy="4167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>
              <a:lnSpc>
                <a:spcPct val="115000"/>
              </a:lnSpc>
              <a:spcBef>
                <a:spcPts val="540"/>
              </a:spcBef>
              <a:spcAft>
                <a:spcPts val="540"/>
              </a:spcAft>
            </a:pPr>
            <a:r>
              <a:rPr lang="en-IN" sz="2000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2000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4152349" y="3192846"/>
            <a:ext cx="4529880" cy="13688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 dirty="0">
                <a:latin typeface="Century Gothic" pitchFamily="34" charset="0"/>
                <a:cs typeface="Tahoma" pitchFamily="34" charset="0"/>
              </a:rPr>
              <a:t>Team:</a:t>
            </a:r>
            <a:endParaRPr lang="en-IN" sz="1500" b="1" dirty="0">
              <a:latin typeface="Century Gothic" pitchFamily="34" charset="0"/>
              <a:cs typeface="Tahoma" pitchFamily="34" charset="0"/>
            </a:endParaRPr>
          </a:p>
          <a:p>
            <a:pPr marL="0" indent="0">
              <a:buNone/>
              <a:defRPr/>
            </a:pPr>
            <a:r>
              <a:rPr lang="en-IN" sz="1500" b="1" dirty="0" err="1">
                <a:latin typeface="Century Gothic" pitchFamily="34" charset="0"/>
                <a:cs typeface="Tahoma" pitchFamily="34" charset="0"/>
              </a:rPr>
              <a:t>Spoorthi</a:t>
            </a:r>
            <a:r>
              <a:rPr lang="en-IN" sz="1500" b="1" dirty="0">
                <a:latin typeface="Century Gothic" pitchFamily="34" charset="0"/>
                <a:cs typeface="Tahoma" pitchFamily="34" charset="0"/>
              </a:rPr>
              <a:t>( AMB2262 )</a:t>
            </a:r>
          </a:p>
          <a:p>
            <a:pPr marL="0" indent="0">
              <a:buNone/>
              <a:defRPr/>
            </a:pPr>
            <a:r>
              <a:rPr lang="en-IN" sz="1500" b="1" dirty="0" err="1">
                <a:latin typeface="Century Gothic" pitchFamily="34" charset="0"/>
                <a:cs typeface="Tahoma" pitchFamily="34" charset="0"/>
              </a:rPr>
              <a:t>Sneha</a:t>
            </a:r>
            <a:r>
              <a:rPr lang="en-IN" sz="1500" b="1" dirty="0">
                <a:latin typeface="Century Gothic" pitchFamily="34" charset="0"/>
                <a:cs typeface="Tahoma" pitchFamily="34" charset="0"/>
              </a:rPr>
              <a:t> V </a:t>
            </a:r>
            <a:r>
              <a:rPr lang="en-IN" sz="1500" b="1" dirty="0" err="1">
                <a:latin typeface="Century Gothic" pitchFamily="34" charset="0"/>
                <a:cs typeface="Tahoma" pitchFamily="34" charset="0"/>
              </a:rPr>
              <a:t>Lokapur</a:t>
            </a:r>
            <a:r>
              <a:rPr lang="en-IN" sz="1500" b="1" dirty="0">
                <a:latin typeface="Century Gothic" pitchFamily="34" charset="0"/>
                <a:cs typeface="Tahoma" pitchFamily="34" charset="0"/>
              </a:rPr>
              <a:t>(AMB2257)</a:t>
            </a:r>
          </a:p>
          <a:p>
            <a:pPr marL="0" indent="0">
              <a:buNone/>
              <a:defRPr/>
            </a:pPr>
            <a:r>
              <a:rPr lang="en-IN" sz="1500" b="1" dirty="0" err="1">
                <a:latin typeface="Century Gothic" pitchFamily="34" charset="0"/>
                <a:cs typeface="Tahoma" pitchFamily="34" charset="0"/>
              </a:rPr>
              <a:t>Navya</a:t>
            </a:r>
            <a:r>
              <a:rPr lang="en-IN" sz="1500" b="1" dirty="0">
                <a:latin typeface="Century Gothic" pitchFamily="34" charset="0"/>
                <a:cs typeface="Tahoma" pitchFamily="34" charset="0"/>
              </a:rPr>
              <a:t> N J(AMB2157)</a:t>
            </a:r>
            <a:endParaRPr lang="en-US" sz="1500" b="1" dirty="0">
              <a:latin typeface="Century Gothic" pitchFamily="34" charset="0"/>
              <a:cs typeface="Tahoma" pitchFamily="34" charset="0"/>
            </a:endParaRPr>
          </a:p>
        </p:txBody>
      </p:sp>
      <p:pic>
        <p:nvPicPr>
          <p:cNvPr id="4" name="Picture 2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57" y="3192846"/>
            <a:ext cx="1389278" cy="136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1583436" y="246872"/>
            <a:ext cx="6429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u="sng" dirty="0">
                <a:latin typeface="Century Gothic" pitchFamily="34" charset="0"/>
                <a:cs typeface="Tahoma" pitchFamily="34" charset="0"/>
              </a:rPr>
              <a:t>PROJECT REPORT</a:t>
            </a:r>
            <a:endParaRPr lang="en-IN" sz="2000" b="1" u="sn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624078" y="1392173"/>
            <a:ext cx="8201870" cy="147335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Century Gothic" pitchFamily="34" charset="0"/>
                <a:cs typeface="Tahoma" pitchFamily="34" charset="0"/>
              </a:rPr>
              <a:t>Project Title:</a:t>
            </a:r>
            <a:r>
              <a:rPr lang="en-IN" sz="1400" b="1" dirty="0">
                <a:latin typeface="Century Gothic" pitchFamily="34" charset="0"/>
                <a:cs typeface="Tahoma" pitchFamily="34" charset="0"/>
              </a:rPr>
              <a:t> Influence of different levels of Nitrogen and Phosphorus on growth, yield and economics of Niger(</a:t>
            </a:r>
            <a:r>
              <a:rPr lang="en-IN" sz="1400" b="1" i="1" dirty="0" err="1">
                <a:latin typeface="Century Gothic" pitchFamily="34" charset="0"/>
                <a:cs typeface="Tahoma" pitchFamily="34" charset="0"/>
              </a:rPr>
              <a:t>Guizotia</a:t>
            </a:r>
            <a:r>
              <a:rPr lang="en-IN" sz="1400" b="1" i="1" dirty="0">
                <a:latin typeface="Century Gothic" pitchFamily="34" charset="0"/>
                <a:cs typeface="Tahoma" pitchFamily="34" charset="0"/>
              </a:rPr>
              <a:t> </a:t>
            </a:r>
            <a:r>
              <a:rPr lang="en-IN" sz="1400" b="1" i="1" dirty="0" err="1">
                <a:latin typeface="Century Gothic" pitchFamily="34" charset="0"/>
                <a:cs typeface="Tahoma" pitchFamily="34" charset="0"/>
              </a:rPr>
              <a:t>abyssinica</a:t>
            </a:r>
            <a:r>
              <a:rPr lang="en-IN" sz="1400" b="1" i="1" dirty="0">
                <a:latin typeface="Century Gothic" pitchFamily="34" charset="0"/>
                <a:cs typeface="Tahoma" pitchFamily="34" charset="0"/>
              </a:rPr>
              <a:t> L. Cass)</a:t>
            </a:r>
          </a:p>
          <a:p>
            <a:pPr algn="ctr"/>
            <a:endParaRPr lang="en-IN" sz="14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pPr marL="0" indent="0" algn="ctr">
              <a:buNone/>
            </a:pPr>
            <a:r>
              <a:rPr lang="en-US" sz="1400" b="1" dirty="0"/>
              <a:t>Season: </a:t>
            </a:r>
            <a:r>
              <a:rPr lang="en-US" sz="1400" dirty="0" err="1"/>
              <a:t>Kharif</a:t>
            </a:r>
            <a:r>
              <a:rPr lang="en-US" sz="1400" dirty="0"/>
              <a:t> 2025   </a:t>
            </a:r>
            <a:r>
              <a:rPr lang="en-US" sz="1400" b="1" dirty="0"/>
              <a:t>Location: </a:t>
            </a:r>
            <a:r>
              <a:rPr lang="en-US" sz="1400" dirty="0"/>
              <a:t>ZARS, GKVK, Bengaluru   </a:t>
            </a:r>
            <a:r>
              <a:rPr lang="en-US" sz="1400" b="1" dirty="0"/>
              <a:t>Design: </a:t>
            </a:r>
            <a:r>
              <a:rPr lang="en-US" sz="1400" dirty="0"/>
              <a:t>RCBD | 7 Treatments × 3 Replications</a:t>
            </a:r>
          </a:p>
          <a:p>
            <a:pPr algn="ctr"/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342798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ABSTRACT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Study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C3D2E"/>
                </a:solidFill>
              </a:rPr>
              <a:t>Niger (Guizotia abyssinica L. Cass), an important oilseed crop of tropical and subtropical regions, suffers from chronically low productivity due to sub-optimal fertilizer management.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C3D2E"/>
                </a:solidFill>
              </a:rPr>
              <a:t>This study investigated the response of Niger to seven graded levels of Nitrogen (N) and Phosphorus (P), applied as percentages of the Recommended Dose of Fertilizer (RDF).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57800" y="109728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150% RDF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Highest Capitellum Count (T5)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29 g/plot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Best Seed Yield — T3 (50% RD)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33172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Rs 60,000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Total Cost of Cultivation/ha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33172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67%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Labour Share of Input Cost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8321040" cy="5486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F6E3"/>
                </a:solidFill>
              </a:rPr>
              <a:t>Keywords: Niger · Guizotia abyssinica · Nitrogen · Phosphorus · RCBD · Kharif · Seed Yield · Fertilizer · Bengaluru · Oilseed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 — </a:t>
            </a:r>
            <a:r>
              <a:rPr lang="en-US" sz="1050" b="1" dirty="0">
                <a:solidFill>
                  <a:srgbClr val="2C1A0E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</a:rPr>
              <a:t>Why Niger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7D38"/>
                </a:solidFill>
              </a:rPr>
              <a:t>Asteraceae</a:t>
            </a:r>
            <a:r>
              <a:rPr lang="en-US" sz="1200" b="1" dirty="0">
                <a:solidFill>
                  <a:srgbClr val="C27D38"/>
                </a:solidFill>
              </a:rPr>
              <a:t> </a:t>
            </a:r>
            <a:r>
              <a:rPr lang="en-US" sz="1400" b="1" dirty="0">
                <a:solidFill>
                  <a:srgbClr val="C27D38"/>
                </a:solidFill>
              </a:rPr>
              <a:t>Family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Cultivated in India, Ethiopia, East Africa, West Indies, Zimbabwe</a:t>
            </a:r>
            <a:r>
              <a:rPr lang="en-US" sz="1050" dirty="0">
                <a:solidFill>
                  <a:srgbClr val="E8B87A"/>
                </a:solidFill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Low</a:t>
            </a:r>
            <a:r>
              <a:rPr lang="en-US" sz="1200" b="1" dirty="0">
                <a:solidFill>
                  <a:srgbClr val="C27D38"/>
                </a:solidFill>
              </a:rPr>
              <a:t> </a:t>
            </a:r>
            <a:r>
              <a:rPr lang="en-US" sz="1600" b="1" dirty="0">
                <a:solidFill>
                  <a:srgbClr val="C27D38"/>
                </a:solidFill>
              </a:rPr>
              <a:t>Productivity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India: ~4.2 lakh ha, 1.12 lakh tonnes — only 252 kg/ha productivity</a:t>
            </a:r>
            <a:r>
              <a:rPr lang="en-US" sz="1050" dirty="0">
                <a:solidFill>
                  <a:srgbClr val="E8B87A"/>
                </a:solidFill>
              </a:rPr>
              <a:t>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04872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Economic 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India earns ~₹30 crore/year from Niger exports (~3% of oilseed production).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404872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04872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Oil Content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1091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Seeds contain 30–40% high-quality edible oil; primarily grown in tribal pockets.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575304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75304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N &amp; P Importance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Nitrogen drives vegetative growth; Phosphorus stimulates root, bloom &amp; seed formation.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575304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75304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Research Need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1091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87A"/>
                </a:solidFill>
              </a:rPr>
              <a:t>India's per capita oil consumption (14.8 kg) is far below the world average (26 kg).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II — </a:t>
            </a:r>
            <a:r>
              <a:rPr lang="en-US" sz="1000" b="1" dirty="0">
                <a:solidFill>
                  <a:srgbClr val="2C1A0E"/>
                </a:solidFill>
              </a:rPr>
              <a:t>REVIEW</a:t>
            </a:r>
            <a:r>
              <a:rPr lang="en-US" sz="800" b="1" dirty="0">
                <a:solidFill>
                  <a:srgbClr val="2C1A0E"/>
                </a:solidFill>
              </a:rPr>
              <a:t> OF LITERATURE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Key Studies on Niger Fertilization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7101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71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Bibhuti et al., 2014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Foliar sprays on Niger recorded higher seed sets and economic returns.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6537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Priyanka et al., 2017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Different levels of N, P, K and S resulted in significantly higher yield and improved seed quality.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5973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9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Kasle et al., 2020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Graded fertilizers combined with plant density management improved growth and yield.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5409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Sandeep &amp; Kubsad, 2020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01752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Plant geometry, fertilizer level and Cycocel application significantly influenced yield and nutrient uptake.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64845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484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Tiwari et al., 2020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361188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Integrated organic nutrients for N management led to higher seed yield and economic returns.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4281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Choudhari et al., 2023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42062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3D2E"/>
                </a:solidFill>
              </a:rPr>
              <a:t>Integrated management practices recorded higher qualitative and quantitative yield under field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CHAPTER III —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F6E3"/>
                </a:solidFill>
              </a:rPr>
              <a:t>Research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STUDY —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2801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Influence of N &amp; P levels on vegetative growth parameters (height, leaves, branches) at 30 &amp; 60 DAS.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EVALUATE —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Effect of graded N &amp; P on yield attributes (capitella count) and seed yield of Niger.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IDENTIFY —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2743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Optimum level of N &amp; P for highest seed yield under Kharif season in Eastern Dry Zone, Karnataka.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53872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ASSESS —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34747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Economics of Niger cultivation under different fertilizer treatments — most cost-effective strategy.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427024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PROVIDE — 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6596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Data-driven recommendations for farmers &amp; agronomists to improve Niger productivity in marginal lands.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CHAPTER IV — MATERIALS &amp; METHODS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</a:rPr>
              <a:t>Experimental Setup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60520" cy="192024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Site &amp; Climate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Location: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093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ZARS, GKVK, Bengaluru — 13°05′N, 77°34′E, 924 m ASL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Zone: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9568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Eastern Dry Zone (ACZV) of Karnataka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Rainfall: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528–1374.4 mm (mean 915.8 mm)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Temp / RH: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651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26 °C avg | ~90 % relative humidity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3977640" cy="192024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6187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Experimental Details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16093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Crop / Variety: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6093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Niger (Guizotia abyssinica) — KBN-2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9568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Season: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568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Kharif, 2025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Design: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3042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RCBD — 7 Treatments × 3 Replications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Spacing / Area: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</a:rPr>
              <a:t>30 × 10 cm | Total: 31.68 m²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218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A0E"/>
                </a:solidFill>
              </a:rPr>
              <a:t>Treatment Levels (N &amp; P as % Recommended Dose):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100% RD (Control)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459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0% 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88036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50% 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11480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125% 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3566160"/>
            <a:ext cx="1143000" cy="64008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4924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1A0E"/>
                </a:solidFill>
              </a:rPr>
              <a:t>150% RD 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175% 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1812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T7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81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6E3"/>
                </a:solidFill>
              </a:rPr>
              <a:t>200% 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CHAPTER V —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F6E3"/>
                </a:solidFill>
              </a:rPr>
              <a:t>Experimental Design &amp; Nutrient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7D38"/>
                </a:solidFill>
              </a:rPr>
              <a:t>RCBD Layout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3619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R1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T5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28600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R2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T5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2962656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0358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R3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T5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T4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7D38"/>
                </a:solidFill>
              </a:rPr>
              <a:t>Nutrient Management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663440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Nutrient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79008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RDF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94576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Source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10144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Method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1481328"/>
            <a:ext cx="4114800" cy="2926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Nutrient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687568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RDF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11696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Source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35824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Method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1828800"/>
            <a:ext cx="4114800" cy="59436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Nitrogen (N)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687568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20 kg/ha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711696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Urea (46% N)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35824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Basal 50% + Top-dress @ 30 DAS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2468880"/>
            <a:ext cx="4114800" cy="594360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Phosphorus (P)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687568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40 kg/ha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11696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SSP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735824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Full basal at sowing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663440" y="3108960"/>
            <a:ext cx="4114800" cy="59436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Potassium (K)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87568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20 kg/ha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711696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MOP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735824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7A"/>
                </a:solidFill>
              </a:rPr>
              <a:t>Full basal at sowing (uniform)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663440" y="3822192"/>
            <a:ext cx="411480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754880" y="3886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Statistical Model (RCBD)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754880" y="4160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Yᵢⱼ = μ + τᵢ + βⱼ + εᵢⱼ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F-test at 5% &amp; 1% significance levels | CD calculated for significant effects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 — EXPERIMENT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A0E"/>
                </a:solidFill>
              </a:rPr>
              <a:t>Growth Parameters — Plant Height, Leaves &amp; Branches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86094462"/>
              </p:ext>
            </p:extLst>
          </p:nvPr>
        </p:nvGraphicFramePr>
        <p:xfrm>
          <a:off x="411480" y="114300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743200" cy="269748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F2E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157276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Plant height: NS at 30 &amp; 60 DAS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1947672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92024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T3 (50% RD) highest plant height at 60 DAS: 64.2 cm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2295144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26771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Leaf count: NS — T5 &amp; T4 highest at 60 DAS (31 leaves)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2642616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615184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Branch count: NS — T4 highest at 60 DAS (13 branches)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990088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2962656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Vegetative morphology governed by genetics &amp; environment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3337560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3101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2E"/>
                </a:solidFill>
              </a:rPr>
              <a:t>No significant dose-response in vegetative parameters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931920"/>
            <a:ext cx="8321040" cy="82296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DF6E3"/>
                </a:solidFill>
              </a:rPr>
              <a:t>F-Test Result: NS (Non-Significant) for Plant Height, Leaves &amp; Branches at both 30 DAS and 60 DAS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CHAPTER VI — YIELD RESULTS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DF6E3"/>
                </a:solidFill>
              </a:rPr>
              <a:t>Capitellum Count &amp; Seed Yield — Significant Treatment Effects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14300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143000"/>
            <a:ext cx="54864" cy="100584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207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27D38"/>
                </a:solidFill>
              </a:rPr>
              <a:t>T5 — 150% RD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465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Highest Capitellum @ Harvest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</a:rPr>
              <a:t>29 /plant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63640" y="224028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240280"/>
            <a:ext cx="54864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27D38"/>
                </a:solidFill>
              </a:rPr>
              <a:t>T3 — 50% RD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4652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Highest Seed Yield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</a:rPr>
              <a:t>29 g/plot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263640" y="333756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3337560"/>
            <a:ext cx="54864" cy="1005840"/>
          </a:xfrm>
          <a:prstGeom prst="rect">
            <a:avLst/>
          </a:prstGeom>
          <a:solidFill>
            <a:srgbClr val="334466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3401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27D38"/>
                </a:solidFill>
              </a:rPr>
              <a:t>T2 — 0% RD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4652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Lowest Growth &amp; Yield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4652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</a:rPr>
              <a:t>—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263640" y="4434840"/>
            <a:ext cx="2468880" cy="50292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462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F-Test: ** (1% significance)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SEM: 3.14–4 | CD@5%: 5.05–5.90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VII — DATA VISUALIZATION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0E"/>
                </a:solidFill>
              </a:rPr>
              <a:t>Matplotlib Visualizations — Key Experimental Outputs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1: Plant Height (cm) at 30 &amp; 60 DAS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6072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9656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552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0984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2: Leaves per Plant at 30 &amp; 60 DAS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92424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7336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3: Branches per Plant at 30 &amp; 60 DAS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08776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41464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63256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4: Capitellum Count &amp; Seed Yield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7864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08760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19656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0552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41448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27832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00984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5: Radar Chart — Normalised Performance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92424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14216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25112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36008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46904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44184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17336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6: Input Cost Distribution (Economics)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08776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9672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0568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41464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360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63256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74152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VIII — ML MODEL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DF6E3"/>
                </a:solidFill>
              </a:rPr>
              <a:t>Machine Learning — Seed Yield Prediction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7498080" cy="3657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5468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RMSE 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MSE 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212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MAE 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</a:rPr>
              <a:t>R² 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7498080" cy="475488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6E3"/>
                </a:solidFill>
              </a:rPr>
              <a:t>Linear Regression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468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2.18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4340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4.75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3212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1.92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2084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0.58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11480" y="208483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6E3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5468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1.68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4340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2.82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212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1.35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2084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0.74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1480" y="2587752"/>
            <a:ext cx="7498080" cy="475488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8775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6E3"/>
                </a:solidFill>
              </a:rPr>
              <a:t>SVR (RBF)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5468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1.74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4340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3.03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3212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1.41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2084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0.70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6E3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5468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1.43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4340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2.05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3212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1.18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2084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B87A"/>
                </a:solidFill>
              </a:rPr>
              <a:t>0.81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11480" y="3593592"/>
            <a:ext cx="7498080" cy="475488"/>
          </a:xfrm>
          <a:prstGeom prst="rect">
            <a:avLst/>
          </a:prstGeom>
          <a:solidFill>
            <a:srgbClr val="0A305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593592"/>
            <a:ext cx="64008" cy="47548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59359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7D38"/>
                </a:solidFill>
              </a:rPr>
              <a:t>XGBoost ★ Best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15468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27D38"/>
                </a:solidFill>
              </a:rPr>
              <a:t>1.21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4340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27D38"/>
                </a:solidFill>
              </a:rPr>
              <a:t>1.46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3212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27D38"/>
                </a:solidFill>
              </a:rPr>
              <a:t>0.97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2084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27D38"/>
                </a:solidFill>
              </a:rPr>
              <a:t>0.87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001000" y="11704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D38"/>
                </a:solidFill>
              </a:rPr>
              <a:t>R² Score Comparison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65008" y="2549347"/>
            <a:ext cx="109728" cy="127284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LR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0456" y="2286000"/>
            <a:ext cx="109728" cy="15361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SVR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375904" y="2198218"/>
            <a:ext cx="109728" cy="162397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DT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31352" y="2044598"/>
            <a:ext cx="109728" cy="177759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94776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RF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686800" y="1912925"/>
            <a:ext cx="109728" cy="1909267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50224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XGB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0A3050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D38"/>
                </a:solidFill>
              </a:rPr>
              <a:t>XGBoost outperformed all models with RMSE: 1.21, MAE: 0.97 and R²: 0.87, confirming its suitability for non-linear, multi-variable agronomic yield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742A6-9CA3-0D69-A7D3-6877DEDB0D8E}"/>
              </a:ext>
            </a:extLst>
          </p:cNvPr>
          <p:cNvSpPr txBox="1"/>
          <p:nvPr/>
        </p:nvSpPr>
        <p:spPr>
          <a:xfrm>
            <a:off x="-335720" y="367268"/>
            <a:ext cx="8295860" cy="4408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import pandas as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pd</a:t>
            </a:r>
            <a:endParaRPr lang="en-IN" sz="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from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sklearn.model_selection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import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train_test_split</a:t>
            </a:r>
            <a:endParaRPr lang="en-IN" sz="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from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sklearn.metrics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import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mean_squared_error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mean_absolute_error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r2_score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from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xgboost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import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XGBRegressor</a:t>
            </a:r>
            <a:endParaRPr lang="en-IN" sz="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import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numpy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 np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Experimental dataset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= {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N_pct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': [100, 0, 50, 125, 150, 175, 200],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P_pct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': [100, 0, 50, 125, 150, 175, 200],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'PlantHt_30': [12.4, 11.6, 11.8, 16.4, 10.2, 16.6, 16.0],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'PlantHt_60': [59.9, 60.7, 64.2, 57.6, 60.9, 60.4, 57.1],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'Leaves_30': [20, 20, 21, 20, 22, 19, 20],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'Leaves_60': [29, 30, 30, 31, 31, 31, 29],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'Branches_30': [7, 6, 7, 7, 8, 7, 6],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'Branches_60': [10, 11, 12, 13, 11, 12, 12],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'Capitellum_60': [17, 16, 18, 18, 10, 17, 19],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Capitellum_H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': [20, 25, 23, 20, 29, 21, 23],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SeedYield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': [23, 25, 29, 26, 25, 22, 22]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599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BBF577-8B23-819D-6783-8390B5E11982}"/>
              </a:ext>
            </a:extLst>
          </p:cNvPr>
          <p:cNvSpPr txBox="1"/>
          <p:nvPr/>
        </p:nvSpPr>
        <p:spPr>
          <a:xfrm>
            <a:off x="-282713" y="653500"/>
            <a:ext cx="6387547" cy="371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df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pd.DataFrame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(data)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Features and target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df.drop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SeedYield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', axis=1)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df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SeedYield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']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Train-test split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X_train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y_train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train_test_split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X, y,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test_size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=0.30,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random_state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=42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XGBoost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regressor</a:t>
            </a:r>
            <a:endParaRPr lang="en-IN" sz="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XGBRegressor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n_estimators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=100,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max_depth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=3,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learning_rate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=0.10,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objective='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reg:squarederror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',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random_state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=42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FEF67-841F-8ABB-197D-21DBA8D8D126}"/>
              </a:ext>
            </a:extLst>
          </p:cNvPr>
          <p:cNvSpPr txBox="1"/>
          <p:nvPr/>
        </p:nvSpPr>
        <p:spPr>
          <a:xfrm>
            <a:off x="3940314" y="653500"/>
            <a:ext cx="4797286" cy="30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Train model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model.fit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X_train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y_train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Predict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model.predict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Evaluation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rmse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np.sqrt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mean_squared_error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mse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mean_squared_error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mean_absolute_error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r2 = r2_score(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print("RMSE:",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rmse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print("MSE :",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mse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print("MAE :", </a:t>
            </a:r>
            <a:r>
              <a:rPr lang="en-IN" sz="800" dirty="0" err="1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mae</a:t>
            </a: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939800" indent="-6350" algn="just">
              <a:lnSpc>
                <a:spcPct val="126000"/>
              </a:lnSpc>
              <a:spcAft>
                <a:spcPts val="560"/>
              </a:spcAft>
              <a:buNone/>
            </a:pPr>
            <a:r>
              <a:rPr lang="en-IN" sz="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print("R²  :", r2)</a:t>
            </a:r>
          </a:p>
        </p:txBody>
      </p:sp>
    </p:spTree>
    <p:extLst>
      <p:ext uri="{BB962C8B-B14F-4D97-AF65-F5344CB8AC3E}">
        <p14:creationId xmlns:p14="http://schemas.microsoft.com/office/powerpoint/2010/main" val="223754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B06FE7-8DBB-9627-4933-C0497E33F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0962"/>
            <a:ext cx="9144000" cy="5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58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CHAPTER IX — RESULT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</a:rPr>
              <a:t>Discussion of Findings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420624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6E3"/>
                </a:solidFill>
              </a:rPr>
              <a:t>Weather Influence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Rainfall on three occasions caused damping-off, lodging and minor pest-disease outbreaks. High humidity (~90%) was not severely detrimental due to Niger's moderate moisture tolerance.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6E3"/>
                </a:solidFill>
              </a:rPr>
              <a:t>Pest &amp; Disease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604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High-N treatments (T6, T7) induced lush vegetative growth attracting sucking pests and aphid infestations. Managed with Emamectin benzoate (insects) and Ridomil Gold (downy mildew).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43200"/>
            <a:ext cx="420624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6E3"/>
                </a:solidFill>
              </a:rPr>
              <a:t>Growth Attributes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No significant differences in plant height, leaves or branches. Variety (KBN-2) and environment appear to govern vegetative morphology more than fertilizer dose.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4320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6E3"/>
                </a:solidFill>
              </a:rPr>
              <a:t>Yield Attributes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604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T5 (150% RD) recorded highest capitellum count at harvest (29/plant). T3 (50% RD) gave highest seed yield (29 g/plot). Diminishing returns observed beyond 150% RD.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8321040" cy="48463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</a:rPr>
              <a:t>ANOVA Summary: Treatment F-cal 1.04 &lt; F-tab 2.99 @ 5% for growth | Significant (F** &gt; F-tab) for Capitellum Count &amp; Seed Yield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</a:rPr>
              <a:t>CHAPTER X — SUMMARY &amp;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F6E3"/>
                </a:solidFill>
              </a:rPr>
              <a:t>Summary &amp; Conclusions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T5 (150% RD of N &amp; P) recorded the highest capitellum count at harvest — 29 per plant.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61848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82496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6093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T3 (50% RD) achieved the highest seed yield (29 g/plot) — moderate P supply is key for seed-set.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2093976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57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2084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T2 (0% RD) showed the lowest growth and yield, confirming N &amp; P fertilization is indispensable.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2569464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Plant height, leaves and branches were not significantly influenced by fertilizer dose.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3044952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08960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30358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Capsellum count and seed yield differed significantly across treatments (F** &gt; F-tab at 1%).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" y="3520440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584448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" y="35112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High rainfall caused lodging and disease pressure in high-N treatments (T6, T7).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" y="399592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059936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" y="39867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B87A"/>
                </a:solidFill>
              </a:rPr>
              <a:t>Total cost of cultivation: ₹60,000/ha — labour accounts for 67% of total input costs.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451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Recommendation: Growing Niger with 150% RD of N &amp; P under Kharif in the Eastern Dry Zone of Karnataka optimises yield without excessive input expenditure.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XI —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1A0E"/>
                </a:solidFill>
              </a:rPr>
              <a:t>Future Research Directions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Multi-location Trials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Validate 150% RD across agro-climatic zones of Karnataka &amp; Niger-growing states.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Precision Nutrient Mgmt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Integrate soil testing, LCC-based N management with GPS variable-rate fertilizer technology.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29968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Micronutrient Studies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Investigate N, P combined with S, Zn, B on oil quality — sulphur enhances oil biosynthesis.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29968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029968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Organic &amp; Bio-fertilizers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Evaluate biofertilizers (Rhizobium, PSB, Azospirillum) + FYM with reduced chemical doses.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871216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71216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Variety Evaluation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Test newer Niger genotypes with improved harvest index under optimised fertilizer regimes.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871216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871216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Mechanisation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Adapt mechanised sowing/harvesting to reduce labour costs (currently 67% of total costs).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712464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12464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Climate Adaptation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Assess Niger resilience to elevated temperatures, drought and irregular rainfall projections.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712464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12464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2E"/>
                </a:solidFill>
              </a:rPr>
              <a:t>Remote Sensing &amp; IoT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8348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Drone-based multispectral imaging and IoT sensors for real-time irrigation and fertilizer scheduling.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XII — REFERENCES &amp; 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DF6E3"/>
                </a:solidFill>
              </a:rPr>
              <a:t>References &amp; Economics Appendix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27D38"/>
                </a:solidFill>
              </a:rPr>
              <a:t>Key References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1. Acharya, S.S. (1989) — Oilseeds Production Scenario in India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2. Bibhuti et al. (2014) — Foliar Sprays on Niger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3. Damodaran &amp; Hegde (2003) — Oilseed Statistical Compendium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4. Hegde, D.M. (2012) — Oilseeds: Nutritional &amp; Economic Significance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5. Kasle et al. (2020) — Graded Fertilizer &amp; Plant Density in Niger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6. Panse &amp; Sukhatme (1967) — Statistical Methods, ICAR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7. Sandeep &amp; Kubsad (2020) — Yield Quality &amp; Nutrient Uptake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8. Tiwari et al. (2020) — Organic N Management in Niger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143000"/>
            <a:ext cx="3657600" cy="365760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234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D38"/>
                </a:solidFill>
              </a:rPr>
              <a:t>Economics — Cost of Cultivation / ha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Seed (5 kg/ha)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1572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₹1,500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Fertilizer (Urea+SSP+MOP)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₹5,000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359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Land Prep &amp; Sowing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3591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₹3,000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7523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7D38"/>
                </a:solidFill>
              </a:rPr>
              <a:t>Labour (50 × 25 days)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7523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27D38"/>
                </a:solidFill>
              </a:rPr>
              <a:t>₹40,000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Insecticide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145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₹1,900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5387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Irrigation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₹500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87A"/>
                </a:solidFill>
              </a:rPr>
              <a:t>Harvesting &amp; Threshing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F6E3"/>
                </a:solidFill>
              </a:rPr>
              <a:t>₹8,000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4343400"/>
            <a:ext cx="3383280" cy="0"/>
          </a:xfrm>
          <a:prstGeom prst="line">
            <a:avLst/>
          </a:prstGeom>
          <a:noFill/>
          <a:ln w="12700">
            <a:solidFill>
              <a:srgbClr val="C27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27D38"/>
                </a:solidFill>
              </a:rPr>
              <a:t>TOTAL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980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C27D38"/>
                </a:solidFill>
              </a:rPr>
              <a:t>₹60,000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DF6E3"/>
                </a:solidFill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0"/>
          </a:xfrm>
          <a:prstGeom prst="line">
            <a:avLst/>
          </a:prstGeom>
          <a:noFill/>
          <a:ln w="254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B87A"/>
                </a:solidFill>
              </a:rPr>
              <a:t>Influence of Different Levels of Nitrogen &amp; Phosphorus on Growth, Yield &amp; Economics of Niger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7B5E"/>
                </a:solidFill>
              </a:rPr>
              <a:t>Guizotia abyssinica L. Cass | Kharif 2025 | ZARS, GKVK, Bengaluru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University of Agricultural Sciences, GKVK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Department of Agronomy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Application of AI &amp; ML in Agriculture — EAI-421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7B5E"/>
                </a:solidFill>
              </a:rPr>
              <a:t>For queries and further research collaboration — UAS Bengaluru | GKVK Campus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1941</Words>
  <Application>Microsoft Office PowerPoint</Application>
  <PresentationFormat>On-screen Show (16:9)</PresentationFormat>
  <Paragraphs>327</Paragraphs>
  <Slides>19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 Research Report</dc:title>
  <dc:subject>PptxGenJS Presentation</dc:subject>
  <dc:creator>PptxGenJS</dc:creator>
  <cp:lastModifiedBy>Spoorthi S S</cp:lastModifiedBy>
  <cp:revision>7</cp:revision>
  <dcterms:created xsi:type="dcterms:W3CDTF">2026-04-01T18:22:44Z</dcterms:created>
  <dcterms:modified xsi:type="dcterms:W3CDTF">2026-04-15T20:32:03Z</dcterms:modified>
</cp:coreProperties>
</file>